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f61ddb98684c91" /><Relationship Type="http://schemas.openxmlformats.org/officeDocument/2006/relationships/extended-properties" Target="/docProps/app.xml" Id="Rd0e70e0750a54fbf" /><Relationship Type="http://schemas.openxmlformats.org/officeDocument/2006/relationships/officeDocument" Target="/ppt/presentation.xml" Id="R156a9b935b07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14dd07b7954fe0"/>
  </p:sldMasterIdLst>
  <p:notesMasterIdLst>
    <p:notesMasterId xmlns:r="http://schemas.openxmlformats.org/officeDocument/2006/relationships" r:id="R8cfd8081a3d2450e"/>
  </p:notesMasterIdLst>
  <p:sldIdLst>
    <p:sldId xmlns:r="http://schemas.openxmlformats.org/officeDocument/2006/relationships" id="256" r:id="R554e0ac4b7444db0"/>
    <p:sldId xmlns:r="http://schemas.openxmlformats.org/officeDocument/2006/relationships" id="257" r:id="R776bab6b5b5e4910"/>
    <p:sldId xmlns:r="http://schemas.openxmlformats.org/officeDocument/2006/relationships" id="258" r:id="Rf76a91b7a947457d"/>
    <p:sldId xmlns:r="http://schemas.openxmlformats.org/officeDocument/2006/relationships" id="259" r:id="Rc97e338c0dab4404"/>
    <p:sldId xmlns:r="http://schemas.openxmlformats.org/officeDocument/2006/relationships" id="260" r:id="R3fe943deb15c49dc"/>
    <p:sldId xmlns:r="http://schemas.openxmlformats.org/officeDocument/2006/relationships" id="261" r:id="R3ace4518082946e9"/>
    <p:sldId xmlns:r="http://schemas.openxmlformats.org/officeDocument/2006/relationships" id="262" r:id="Rac4bb54c5be94a07"/>
    <p:sldId xmlns:r="http://schemas.openxmlformats.org/officeDocument/2006/relationships" id="263" r:id="R320529b97681438e"/>
    <p:sldId xmlns:r="http://schemas.openxmlformats.org/officeDocument/2006/relationships" id="264" r:id="R99c32debfed64153"/>
    <p:sldId xmlns:r="http://schemas.openxmlformats.org/officeDocument/2006/relationships" id="265" r:id="Rdaf7b36c0b244004"/>
    <p:sldId xmlns:r="http://schemas.openxmlformats.org/officeDocument/2006/relationships" id="266" r:id="Rd2e07378fa884667"/>
    <p:sldId xmlns:r="http://schemas.openxmlformats.org/officeDocument/2006/relationships" id="267" r:id="R20236377d094401e"/>
    <p:sldId xmlns:r="http://schemas.openxmlformats.org/officeDocument/2006/relationships" id="268" r:id="R5c48d6faee67426f"/>
    <p:sldId xmlns:r="http://schemas.openxmlformats.org/officeDocument/2006/relationships" id="269" r:id="R78feaab5e3d0495a"/>
    <p:sldId xmlns:r="http://schemas.openxmlformats.org/officeDocument/2006/relationships" id="270" r:id="R9c415e81fa384872"/>
    <p:sldId xmlns:r="http://schemas.openxmlformats.org/officeDocument/2006/relationships" id="271" r:id="R4202a5ae96914b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bc8a6655f9490c" /><Relationship Type="http://schemas.openxmlformats.org/officeDocument/2006/relationships/slideMaster" Target="/ppt/slideMasters/slideMaster1.xml" Id="Rbf14dd07b7954fe0" /><Relationship Type="http://schemas.openxmlformats.org/officeDocument/2006/relationships/notesMaster" Target="/ppt/notesMasters/notesMaster1.xml" Id="R8cfd8081a3d2450e" /><Relationship Type="http://schemas.openxmlformats.org/officeDocument/2006/relationships/presProps" Target="/ppt/presProps.xml" Id="Rb9256abf845b4314" /><Relationship Type="http://schemas.openxmlformats.org/officeDocument/2006/relationships/tableStyles" Target="/ppt/tableStyles.xml" Id="R1f56b107465c413d" /><Relationship Type="http://schemas.openxmlformats.org/officeDocument/2006/relationships/slide" Target="/ppt/slides/slide1.xml" Id="R554e0ac4b7444db0" /><Relationship Type="http://schemas.openxmlformats.org/officeDocument/2006/relationships/slide" Target="/ppt/slides/slide2.xml" Id="R776bab6b5b5e4910" /><Relationship Type="http://schemas.openxmlformats.org/officeDocument/2006/relationships/slide" Target="/ppt/slides/slide3.xml" Id="Rf76a91b7a947457d" /><Relationship Type="http://schemas.openxmlformats.org/officeDocument/2006/relationships/slide" Target="/ppt/slides/slide4.xml" Id="Rc97e338c0dab4404" /><Relationship Type="http://schemas.openxmlformats.org/officeDocument/2006/relationships/slide" Target="/ppt/slides/slide5.xml" Id="R3fe943deb15c49dc" /><Relationship Type="http://schemas.openxmlformats.org/officeDocument/2006/relationships/slide" Target="/ppt/slides/slide6.xml" Id="R3ace4518082946e9" /><Relationship Type="http://schemas.openxmlformats.org/officeDocument/2006/relationships/slide" Target="/ppt/slides/slide7.xml" Id="Rac4bb54c5be94a07" /><Relationship Type="http://schemas.openxmlformats.org/officeDocument/2006/relationships/slide" Target="/ppt/slides/slide8.xml" Id="R320529b97681438e" /><Relationship Type="http://schemas.openxmlformats.org/officeDocument/2006/relationships/slide" Target="/ppt/slides/slide9.xml" Id="R99c32debfed64153" /><Relationship Type="http://schemas.openxmlformats.org/officeDocument/2006/relationships/slide" Target="/ppt/slides/slide10.xml" Id="Rdaf7b36c0b244004" /><Relationship Type="http://schemas.openxmlformats.org/officeDocument/2006/relationships/slide" Target="/ppt/slides/slide11.xml" Id="Rd2e07378fa884667" /><Relationship Type="http://schemas.openxmlformats.org/officeDocument/2006/relationships/slide" Target="/ppt/slides/slide12.xml" Id="R20236377d094401e" /><Relationship Type="http://schemas.openxmlformats.org/officeDocument/2006/relationships/slide" Target="/ppt/slides/slide13.xml" Id="R5c48d6faee67426f" /><Relationship Type="http://schemas.openxmlformats.org/officeDocument/2006/relationships/slide" Target="/ppt/slides/slide14.xml" Id="R78feaab5e3d0495a" /><Relationship Type="http://schemas.openxmlformats.org/officeDocument/2006/relationships/slide" Target="/ppt/slides/slide15.xml" Id="R9c415e81fa384872" /><Relationship Type="http://schemas.openxmlformats.org/officeDocument/2006/relationships/slide" Target="/ppt/slides/slide16.xml" Id="R4202a5ae96914b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7ae161f163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1d228f8ec4c42" /><Relationship Type="http://schemas.openxmlformats.org/officeDocument/2006/relationships/notesMaster" Target="/ppt/notesMasters/notesMaster1.xml" Id="R628e6fe7a29a4a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9c926830d4444c" /><Relationship Type="http://schemas.openxmlformats.org/officeDocument/2006/relationships/notesMaster" Target="/ppt/notesMasters/notesMaster1.xml" Id="Rfba5f3fc35f346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8406c9e034d58" /><Relationship Type="http://schemas.openxmlformats.org/officeDocument/2006/relationships/notesMaster" Target="/ppt/notesMasters/notesMaster1.xml" Id="R89e63a55affb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0646a5ea94c71" /><Relationship Type="http://schemas.openxmlformats.org/officeDocument/2006/relationships/notesMaster" Target="/ppt/notesMasters/notesMaster1.xml" Id="Ra372f451c20646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1f43b4ddba432d" /><Relationship Type="http://schemas.openxmlformats.org/officeDocument/2006/relationships/notesMaster" Target="/ppt/notesMasters/notesMaster1.xml" Id="R268f4210a49f46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428a42438048e8" /><Relationship Type="http://schemas.openxmlformats.org/officeDocument/2006/relationships/notesMaster" Target="/ppt/notesMasters/notesMaster1.xml" Id="Re05dd3f723d34a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89d1fe22b94c20" /><Relationship Type="http://schemas.openxmlformats.org/officeDocument/2006/relationships/notesMaster" Target="/ppt/notesMasters/notesMaster1.xml" Id="R93eeee6a20264d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6745ed8774156" /><Relationship Type="http://schemas.openxmlformats.org/officeDocument/2006/relationships/notesMaster" Target="/ppt/notesMasters/notesMaster1.xml" Id="R203bb0e7559740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28bb0d27ac411f" /><Relationship Type="http://schemas.openxmlformats.org/officeDocument/2006/relationships/notesMaster" Target="/ppt/notesMasters/notesMaster1.xml" Id="R274f8f8bd12f4b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0e0ceccea9443a" /><Relationship Type="http://schemas.openxmlformats.org/officeDocument/2006/relationships/notesMaster" Target="/ppt/notesMasters/notesMaster1.xml" Id="R00cc2997ee304e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f29daf6b774c51" /><Relationship Type="http://schemas.openxmlformats.org/officeDocument/2006/relationships/notesMaster" Target="/ppt/notesMasters/notesMaster1.xml" Id="R7be68d429bfc4e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a35ee3283145bb" /><Relationship Type="http://schemas.openxmlformats.org/officeDocument/2006/relationships/notesMaster" Target="/ppt/notesMasters/notesMaster1.xml" Id="Rbb8b3ae5f79d47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653bf728f7469e" /><Relationship Type="http://schemas.openxmlformats.org/officeDocument/2006/relationships/notesMaster" Target="/ppt/notesMasters/notesMaster1.xml" Id="R9f5d55d0c98645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bd7353be4c46e4" /><Relationship Type="http://schemas.openxmlformats.org/officeDocument/2006/relationships/notesMaster" Target="/ppt/notesMasters/notesMaster1.xml" Id="Rfa95350b54a849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30b715ba7d466c" /><Relationship Type="http://schemas.openxmlformats.org/officeDocument/2006/relationships/notesMaster" Target="/ppt/notesMasters/notesMaster1.xml" Id="Rc13787b605e744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e113084a0c487a" /><Relationship Type="http://schemas.openxmlformats.org/officeDocument/2006/relationships/notesMaster" Target="/ppt/notesMasters/notesMaster1.xml" Id="Rd81e5a3537e2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开场：我汇报项目二《基于 Python 的群智能优化算法函数极值寻优系统》。核心问题是：在统一的评价预算下，哪种寻优算法更可靠，参数又有多重要。（约 30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先讲问题与算法，再讲实验协议与统计方法，然后给结果，最后是参数敏感性与演示器。（约 20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背景部分要点：实际问题的不可导性与多峰性，以及文献结论不一致的两个原因。然后引出本项目的三条主线。（约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介绍函数集时突出一点：这 12 个函数覆盖了算法会遇到的主要困难，尤其是 Schwefel 2.26，为后面“没有普适最优算法”的结论埋下伏笔。（约 50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这一页只需讲清两件事：一是 8 种算法的定位与关键机制；二是统一接口与统一评价计数器如何保证公平对比。SA 的多链并行是容易被追问的点，要能解释为什么这样做。（约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强调可复现性设计：固定种子、断点续跑、统一预算。并说明统计方法与为什么不能只看单次结果。（约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这一页回答“差异是否真实存在”。讲清 Friedman 的区组设计思想，以及 CD 这把尺子的用法，为下一页的排名图做铺垫。（约 50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讲排名结论时务必配合 CD 图：只有超过临界差值的名次差才可以宣称显著。（约 50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把收敛曲线分成四类形态来讲，比逐个算法念结果更容易被记住。重点指出 BFGS 在 Rastrigin 上的停滞，那是梯度法局限的直接证据。（约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成功率表是全篇最有冲击力的一张：SA 从 59% 掉到 0，DE/PSO 从接近 100% 掉到 3%。同时纠正一个常见误解——传统方法并非一无是处。（约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这一页是“没有免费午餐定理”的实验证据。要能解释 GWO 在 Schwefel 2.26 上失败的原因：群体快速向头狼聚集，一旦头狼被中心次优吸引域捕获就难以脱离。（约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基线对比回答“智能体现在哪里”。要点是同等预算下的数量级差距，以及网格搜索在维度上的硬性限制。（约 50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参数部分是很多答辩容易忽略的加分点。要点：参数影响可达两三个数量级，所以不能直接照抄文献默认参数；同时有的算法天然更鲁棒。（约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现场演示：选择 Rastrigin，依次运行 PSO、GWO、SA 并加入对比，观察快速收敛、渐进收敛与高方差三种形态；再切到 30 维说明维度灾难。注意提前把窗口调好，避免临场手忙脚乱。（约 90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结论按“差异—无免费午餐—改进有效—传统方法边界—维度灾难—参数重要性”顺序讲。不足部分重点说测试函数集与基线范围的局限。（约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结束语。常见追问准备：为什么用 30 次重复、Friedman 与 Wilcoxon 的区别、SA 为什么改为多链、评价预算是否公平。（约 15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24f5fd829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dcff74e394564" /><Relationship Type="http://schemas.openxmlformats.org/officeDocument/2006/relationships/slideLayout" Target="/ppt/slideLayouts/slideLayout1.xml" Id="Rc55ec461f61f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5ec461f61f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5743ad6d844ea" /><Relationship Type="http://schemas.openxmlformats.org/officeDocument/2006/relationships/notesSlide" Target="/ppt/notesSlides/notesSlide1.xml" Id="Rc48513c16927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6065dcf804601" /><Relationship Type="http://schemas.openxmlformats.org/officeDocument/2006/relationships/notesSlide" Target="/ppt/notesSlides/notesSlide2.xml" Id="R070b99a6b4b14a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90757c7b14543" /><Relationship Type="http://schemas.openxmlformats.org/officeDocument/2006/relationships/notesSlide" Target="/ppt/notesSlides/notesSlide3.xml" Id="R46e93c506cab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dffb3c87c4671" /><Relationship Type="http://schemas.openxmlformats.org/officeDocument/2006/relationships/image" Target="/ppt/media/image.png" Id="R2448b03ef3ff462b" /><Relationship Type="http://schemas.openxmlformats.org/officeDocument/2006/relationships/notesSlide" Target="/ppt/notesSlides/notesSlide4.xml" Id="Rdf84e80fcb044d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625310b63426f" /><Relationship Type="http://schemas.openxmlformats.org/officeDocument/2006/relationships/notesSlide" Target="/ppt/notesSlides/notesSlide5.xml" Id="R1578f1aed384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8a45e6a1d4bfa" /><Relationship Type="http://schemas.openxmlformats.org/officeDocument/2006/relationships/image" Target="/ppt/media/image2.png" Id="Rf02503324f024558" /><Relationship Type="http://schemas.openxmlformats.org/officeDocument/2006/relationships/notesSlide" Target="/ppt/notesSlides/notesSlide6.xml" Id="R1d15569e089147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abba1096b49bb" /><Relationship Type="http://schemas.openxmlformats.org/officeDocument/2006/relationships/notesSlide" Target="/ppt/notesSlides/notesSlide7.xml" Id="Rc5acd7bc6e3d47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cc2ead7274649" /><Relationship Type="http://schemas.openxmlformats.org/officeDocument/2006/relationships/image" Target="/ppt/media/image3.png" Id="R408488f054a149b6" /><Relationship Type="http://schemas.openxmlformats.org/officeDocument/2006/relationships/image" Target="/ppt/media/image4.png" Id="R4329edaaee284b4b" /><Relationship Type="http://schemas.openxmlformats.org/officeDocument/2006/relationships/notesSlide" Target="/ppt/notesSlides/notesSlide8.xml" Id="Rd0ab2d937b8846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3a92856ad4bfd" /><Relationship Type="http://schemas.openxmlformats.org/officeDocument/2006/relationships/image" Target="/ppt/media/image5.png" Id="Raed05ffab3ef4610" /><Relationship Type="http://schemas.openxmlformats.org/officeDocument/2006/relationships/notesSlide" Target="/ppt/notesSlides/notesSlide9.xml" Id="R9905e28778bf41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846a70e4440ae" /><Relationship Type="http://schemas.openxmlformats.org/officeDocument/2006/relationships/image" Target="/ppt/media/image6.png" Id="R0645c81759bc42de" /><Relationship Type="http://schemas.openxmlformats.org/officeDocument/2006/relationships/notesSlide" Target="/ppt/notesSlides/notesSlide10.xml" Id="R2560ba396b5044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53c3e2dbc447f" /><Relationship Type="http://schemas.openxmlformats.org/officeDocument/2006/relationships/image" Target="/ppt/media/image7.png" Id="R8a5dca193ac34ae6" /><Relationship Type="http://schemas.openxmlformats.org/officeDocument/2006/relationships/notesSlide" Target="/ppt/notesSlides/notesSlide11.xml" Id="Rfb26a9c7db884e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1eac3e34849c6" /><Relationship Type="http://schemas.openxmlformats.org/officeDocument/2006/relationships/image" Target="/ppt/media/image8.png" Id="Rd3ff84c37ed04eb5" /><Relationship Type="http://schemas.openxmlformats.org/officeDocument/2006/relationships/notesSlide" Target="/ppt/notesSlides/notesSlide12.xml" Id="R4d6cc690af6e45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aa83af3714101" /><Relationship Type="http://schemas.openxmlformats.org/officeDocument/2006/relationships/image" Target="/ppt/media/image9.png" Id="R6e99277fc0a447f0" /><Relationship Type="http://schemas.openxmlformats.org/officeDocument/2006/relationships/notesSlide" Target="/ppt/notesSlides/notesSlide13.xml" Id="Rcfe8b4432e6345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aa3f6678e4bad" /><Relationship Type="http://schemas.openxmlformats.org/officeDocument/2006/relationships/notesSlide" Target="/ppt/notesSlides/notesSlide14.xml" Id="Rd41cd898b2db42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f64695ad54b06" /><Relationship Type="http://schemas.openxmlformats.org/officeDocument/2006/relationships/notesSlide" Target="/ppt/notesSlides/notesSlide15.xml" Id="R60d05e4fdb1e41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4fe0e3fbc4c05" /><Relationship Type="http://schemas.openxmlformats.org/officeDocument/2006/relationships/notesSlide" Target="/ppt/notesSlides/notesSlide16.xml" Id="R00c6ab52684b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53C5-43F1-4045-8094-E7C0102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43B"/>
          </a:solidFill>
          <a:ln xmlns:a="http://schemas.openxmlformats.org/drawingml/2006/main" w="0">
            <a:solidFill>
              <a:srgbClr val="E874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AEFCE-6B76-4BB8-BA5F-17CD48E0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专业综合设计答辩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CBB09-2BE0-4EF6-826F-445F3B9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基于 Python 的群智能优化算法函数极值寻优系统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96BE3-F423-47A5-929B-4F06F434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算法实现 · 统一基准实验 · 统计检验 · 动画式寻优演示器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D37E9-4831-4D03-B3D5-FDC25594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汇报人：________　　学号：________　　指导教师：________　　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843675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A0F9C-D0A6-45F2-9CDC-936F3E62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汇报提纲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49B89-A673-4CF3-9CA3-7029FC1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从算法实现到统计结论的完整链路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5FE06-E8FD-412F-A55F-808AB47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F2318-787E-42C5-B352-B1A5DA8A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04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问题与函数集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1B3DA-D6C9-4DF4-9302-40E8736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函数极值寻优的形式化描述与 12 个测试函数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01D66-EFAA-490F-B4FD-86D0B8BF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5ADA7-5959-4095-B0CB-D788AB6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算法实现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A75DE-1113-42A9-A8DE-B70FEAD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8 种算法的原理、关键算子与统一接口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FCEED-51E5-4977-96CE-5C23947C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BDDB6-DCE4-4C24-BB55-1CF932BC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实验设计与统计检验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247CE-C800-4D96-8BA9-B7FEA7AD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76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评价预算、30 次重复、Friedman 与 Wilcoxon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28799-09FB-4769-B182-3AAF58A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3A8FC-9A09-400B-8A10-03B6A29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实验结果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2F7B6-8636-4C9C-A635-E246B84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平均排名、收敛过程、成功率与维度影响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211FD-F4E4-4A56-801C-A0882D80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AE031-E64E-4A54-B714-99069E3F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参数敏感性与演示器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BD290-EF42-4A27-A18B-61FE59AB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05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参数影响量化、动画式寻优演示</a:t>
            </a:r>
          </a:p>
        </p:txBody>
      </p:sp>
    </p:spTree>
    <p:extLst>
      <p:ext uri="{BB962C8B-B14F-4D97-AF65-F5344CB8AC3E}">
        <p14:creationId xmlns:p14="http://schemas.microsoft.com/office/powerpoint/2010/main" val="1912366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87330-5A4C-45B6-BA0C-9286AE8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研究背景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37983-698C-4D72-ABA3-74447F9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目标函数不可导或多峰时，梯度法失效，需要群智能算法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6ABCE-8CC9-4FB9-BD2D-1D84C908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实际优化问题中，目标函数常常不可导、不连续、带噪声，甚至只能黑箱求值。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DCB66-C80B-448F-AE70-1956292C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群智能算法只用函数值信息，不依赖梯度，通过群体协作兼顾探索与开发。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CE21A-1C3A-4DEE-A7A9-899D84A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文献中“哪个算法更好”的结论常常矛盾：实验设置不统一、重复次数不足。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2FE0A-7099-4CD7-88E5-0674CA82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参数敏感性常被忽略：同一算法换一组参数，性能可能差两三个数量级。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3EC95-BA90-4788-B244-0A9467F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本项目的三条主线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B43D6-79F5-4912-8050-349815CC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832E9-3AAE-4477-9DBF-F68394EC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19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统一实现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6DC93-1918-443D-B86B-34ED80E3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8 种算法逐行手写，接口与输出完全一致。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4D124-2522-4E5A-9D25-43D190C9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A4505-5A5D-45CC-ABBF-1B83F641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统一实验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26128-A2FD-440D-B470-86BE7F07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57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12 函数 × 3 维度 × 30 次独立重复，固定随机种子。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63651-A1D3-4488-A607-80774FD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55DC0-8560-457C-B652-CBED3C8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统计结论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13BF8-3106-42B4-A4FC-A997F50A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Friedman + Nemenyi + Holm 校正的 Wilcoxon 检验。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F680A-47DE-43E8-90F2-51EC485D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E1D8A-0413-41D3-9DED-0155309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76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可解释演示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BD7B9-CABA-4F37-902A-D16ADEC5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62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动画展示种群移动与收敛过程，支持多算法对比。</a:t>
            </a:r>
          </a:p>
        </p:txBody>
      </p:sp>
    </p:spTree>
    <p:extLst>
      <p:ext uri="{BB962C8B-B14F-4D97-AF65-F5344CB8AC3E}">
        <p14:creationId xmlns:p14="http://schemas.microsoft.com/office/powerpoint/2010/main" val="577958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52373-BA91-4372-9ACE-58E27E4E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测试函数集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18328-03AF-4B5E-B5EB-50EC6BBB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12 个标准函数覆盖单峰、多峰与低维多峰三类地形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8b03ef3ff462b"/>
          <a:stretch xmlns:a="http://schemas.openxmlformats.org/drawingml/2006/main"/>
        </p:blipFill>
        <p:spPr>
          <a:xfrm xmlns:a="http://schemas.openxmlformats.org/drawingml/2006/main">
            <a:off x="4182605" y="1333500"/>
            <a:ext cx="4950741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FB2D3-B925-4F9A-A60E-B770702D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单峰函数 4 个（Sphere、Schwefel 2.22、Rosenbrock、Dixon-Price）：考察收敛速度与精度。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5477A-0D3A-4F56-9A8D-C708BB93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多峰函数 5 个（Rastrigin、Ackley、Griewank、Levy、Schwefel 2.26）：考察全局搜索能力。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1E119-D31A-4AFF-9562-77E8718E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低维多峰函数 3 个（Himmelblau、Beale、Six-Hump Camel）：仅 2 维，便于观察移动轨迹。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40769-0756-499C-9913-490B7C8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最难点：Schwefel 2.26 的最优解位于边界附近（x≈420.97），与中心次优吸引域相距极远，实验结果中它是唯一所有算法都未达标的函数。</a:t>
            </a:r>
          </a:p>
        </p:txBody>
      </p:sp>
    </p:spTree>
    <p:extLst>
      <p:ext uri="{BB962C8B-B14F-4D97-AF65-F5344CB8AC3E}">
        <p14:creationId xmlns:p14="http://schemas.microsoft.com/office/powerpoint/2010/main" val="1103222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8A51E-293C-4370-AB84-EF82BF2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算法实现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433DE-D143-4214-B824-E0D2BD24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8 种算法逐行实现：3 种传统/邻域方法 + 5 种群智能方法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中文名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核心机制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默认参数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遗传算法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锦标赛选择 + SBX 交叉 + 多项式变异 + 精英保留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pc=0.9, pm=1/d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粒子群算法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速度更新 + 个体/群体最优引导，越界维速度清零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w=0.729, c=1.49445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自适应权重粒子群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惯性权重与学习因子随代数线性调度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 0.9→0.4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差分进化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DE/rand/1/bin + 贪婪选择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F=0.5, CR=0.9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灰狼优化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alpha/beta/delta 三级头狼引导，收敛因子衰减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无额外参数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模拟退火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多链并行 + Metropolis 准则 + 自适应温度标定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T0 自动标定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拟牛顿法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L-BFGS-B，带边界，使用梯度信息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单纯形法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Nelder-Mead 反射/扩张/收缩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25BBC-D1BB-4DC9-A62F-0DC999FA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统一接口：run(bench, dim, max_iter, pop_size, seed) → 最优解、误差、收敛代数、评价次数、耗时、逐代收敛曲线。所有算法共用同一评价计数器与记录器。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01F20-B8F7-46D6-B9BD-372C058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实现细节：模拟退火改为多链并行，使每代评价次数与群体算法一致，保证对比公平。</a:t>
            </a:r>
          </a:p>
        </p:txBody>
      </p:sp>
    </p:spTree>
    <p:extLst>
      <p:ext uri="{BB962C8B-B14F-4D97-AF65-F5344CB8AC3E}">
        <p14:creationId xmlns:p14="http://schemas.microsoft.com/office/powerpoint/2010/main" val="1876010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6C976-D814-4F25-9B22-F5F213E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79D3C-6AE1-4EC8-8D7A-5DB26E28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统一评价预算 + 30 次独立重复 + 固定随机种子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9055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95275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设置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测试问题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 个函数 × 3 个维度（2 / 10 / 30 维）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种（2 维额外加入网格搜索与随机搜索基线）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每个组合 30 次，随机种子固定为 1..30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评价预算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 代 × 50 个体 = 15,000 次函数评价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成功判据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|f_best − f*| &lt; 1e-2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实验规模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264 个任务、7,920 次运行、62.6 万行逐代记录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可复现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断点续跑；6 进程并行约 20 秒完成全部实验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503324f024558"/>
          <a:stretch xmlns:a="http://schemas.openxmlformats.org/drawingml/2006/main"/>
        </p:blipFill>
        <p:spPr>
          <a:xfrm xmlns:a="http://schemas.openxmlformats.org/drawingml/2006/main">
            <a:off x="6667500" y="1821835"/>
            <a:ext cx="4953000" cy="302382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068CF-FDC0-47C7-AD6D-73F67E51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统计方法：Friedman 检验（整体差异）+ Nemenyi 临界差值（哪些算法有差异）+ Wilcoxon 符号秩检验（两两比较，Holm 校正）。</a:t>
            </a:r>
          </a:p>
        </p:txBody>
      </p:sp>
    </p:spTree>
    <p:extLst>
      <p:ext uri="{BB962C8B-B14F-4D97-AF65-F5344CB8AC3E}">
        <p14:creationId xmlns:p14="http://schemas.microsoft.com/office/powerpoint/2010/main" val="1864925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9F922-2907-4D87-91AD-8605944F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整体检验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A0E8D-5E56-4DAC-9E45-EF000D2D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三个维度下算法差异均高度显著，可以继续做事后比较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算法数 k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区组数 N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Friedman χ²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值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临界差值 CD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2258.38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 1e-300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1030.02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3.94e-218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 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1060.38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1.08e-224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41A95-DFE2-4483-8326-81C05DB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Friedman 检验把每个“函数 × 运行”组合视为一个区组，在区组内对算法排名，再检验平均排名是否存在系统性差异，不要求数据服从正态分布。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423ED-3BF2-4BF7-B306-557D4DC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临界差值 CD 的含义：两个算法的平均排名之差超过 CD 即认为差异显著。10 维下 CD = 0.639，因此排名图上的名次差距是否真实，可以直接用这把尺子判断。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15316-D4CE-4B73-A093-017C322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两两比较：101 组 Wilcoxon 检验，Holm 校正后 92 组差异显著（91%）。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DF338-11FB-41EF-BB14-9207D316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结论：算法选择是会影响结果的真实变量，而不是随机波动。</a:t>
            </a:r>
          </a:p>
        </p:txBody>
      </p:sp>
    </p:spTree>
    <p:extLst>
      <p:ext uri="{BB962C8B-B14F-4D97-AF65-F5344CB8AC3E}">
        <p14:creationId xmlns:p14="http://schemas.microsoft.com/office/powerpoint/2010/main" val="1509621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6900A-0668-416E-B0C8-7564ED97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算法排名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8D664-F82E-4297-8923-5EB40B4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自适应权重粒子群与灰狼优化领先，传统方法分化明显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488f054a149b6"/>
          <a:stretch xmlns:a="http://schemas.openxmlformats.org/drawingml/2006/main"/>
        </p:blipFill>
        <p:spPr>
          <a:xfrm xmlns:a="http://schemas.openxmlformats.org/drawingml/2006/main">
            <a:off x="609600" y="1692417"/>
            <a:ext cx="5905500" cy="2425416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9edaaee284b4b"/>
          <a:stretch xmlns:a="http://schemas.openxmlformats.org/drawingml/2006/main"/>
        </p:blipFill>
        <p:spPr>
          <a:xfrm xmlns:a="http://schemas.openxmlformats.org/drawingml/2006/main">
            <a:off x="6667500" y="1930456"/>
            <a:ext cx="4953000" cy="1949339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4667250"/>
          <a:ext xmlns:a="http://schemas.openxmlformats.org/drawingml/2006/main" cx="59055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476375"/>
                <a:gridCol w="1476375"/>
                <a:gridCol w="1476375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第一名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第二名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第三名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 1.81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APSO 2.15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PSO 3.14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APSO 2.54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 3.09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PSO 3.41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 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 2.22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APSO 3.49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PSO 3.55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27204-D418-43D9-A8E3-62B522F7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灰狼优化在 30 维下明显领先，说明其高维鲁棒性最好。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F9EF3-7D1C-408C-B531-D58514F2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粒子群算法在三个维度都稳定进入前三，通用性最好。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D3041-6011-4359-8723-7AAE3E65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临界差异图中横线连接的算法差异不显著，可用于判断名次差距是否值得强调。</a:t>
            </a:r>
          </a:p>
        </p:txBody>
      </p:sp>
    </p:spTree>
    <p:extLst>
      <p:ext uri="{BB962C8B-B14F-4D97-AF65-F5344CB8AC3E}">
        <p14:creationId xmlns:p14="http://schemas.microsoft.com/office/powerpoint/2010/main" val="18140502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9E584-3D5F-4E2E-AA33-DF36F956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收敛过程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DDE26-5F20-4D21-B39E-71911CF3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三类收敛形态：快速收敛、渐进收敛与停滞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05ffab3ef4610"/>
          <a:stretch xmlns:a="http://schemas.openxmlformats.org/drawingml/2006/main"/>
        </p:blipFill>
        <p:spPr>
          <a:xfrm xmlns:a="http://schemas.openxmlformats.org/drawingml/2006/main">
            <a:off x="707396" y="1333500"/>
            <a:ext cx="5900407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2C332-9BAF-493E-A3B4-5795F85C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曲线含义：实线为 30 次运行均值，阴影为 ±1 标准差，虚线为成功判据。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BFC00-755D-42F4-909A-D3BD095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快速收敛型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18ADD-4EEC-4186-A70C-735E6C75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　GWO 在 Sphere、Rastrigin 上 20 代内把误差压到 1e-10 以下。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E9450-8906-429E-81CC-5C912F04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渐进收敛型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67E7F-31F5-4DAC-BDFE-7640188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　DE 与 APSO 误差平稳下降，30 次运行的阴影带很窄。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FD661-0E38-44F2-A6FD-4AE8E141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停滞型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14C6C-0FD3-4D27-84E8-CB54A0E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　BFGS 在 Rastrigin 上开局误差就较低，但迅速水平停滞——陷入局部最优。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EF4A1-1860-4AE6-AF12-7F69EAA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高方差型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381C6-CCCA-4379-82B6-F63435EA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72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　SA 的阴影带很宽，个别运行好、多数运行差，单次结果不可作为结论。</a:t>
            </a:r>
          </a:p>
        </p:txBody>
      </p:sp>
    </p:spTree>
    <p:extLst>
      <p:ext uri="{BB962C8B-B14F-4D97-AF65-F5344CB8AC3E}">
        <p14:creationId xmlns:p14="http://schemas.microsoft.com/office/powerpoint/2010/main" val="2091098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9732B-7A73-4A74-9DA1-0CB670E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成功率与维度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338EB-341C-491E-8840-D521F1C7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维度升高对邻域搜索类算法的打击最严重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4572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维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维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 维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随机搜索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网格搜索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5c81759bc42de"/>
          <a:stretch xmlns:a="http://schemas.openxmlformats.org/drawingml/2006/main"/>
        </p:blipFill>
        <p:spPr>
          <a:xfrm xmlns:a="http://schemas.openxmlformats.org/drawingml/2006/main">
            <a:off x="5524500" y="1994495"/>
            <a:ext cx="6096000" cy="201175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9B51C-37C2-46A2-BA44-0C30C772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灰狼优化是唯一在 30 维保持 51% 成功率的群智能算法，下降幅度最小。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60913-C756-413E-8B8F-14B0729F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模拟退火从 2 维 59% 直落到 10 维 0%，是维度灾难最直观的证据。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EF854-3BD3-483F-90EE-2BEDB4D8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BFGS 成功率不受维度影响：光滑单峰问题上传统方法依然经济有效。</a:t>
            </a:r>
          </a:p>
        </p:txBody>
      </p:sp>
    </p:spTree>
    <p:extLst>
      <p:ext uri="{BB962C8B-B14F-4D97-AF65-F5344CB8AC3E}">
        <p14:creationId xmlns:p14="http://schemas.microsoft.com/office/powerpoint/2010/main" val="12007318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EF5BF-3694-4C64-9AA8-7FCA2DA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逐函数分析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B4DED-7065-4221-86D5-AFAE166B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没有普适最优算法：各算法在不同地形上各有所长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9055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8500"/>
                <a:gridCol w="1968500"/>
                <a:gridCol w="1968500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函数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最优算法（误差中位数）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最差算法（误差中位数）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Sphere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 5.4e-46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 4.8e+03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Rosenbrock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BFGS 2.1e-10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 7.8e+05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Rastrigin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 1.1e+02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Ackley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 4.0e-15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 1.98e+01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Levy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APSO 9.0e-20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 2.6e+01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Dixon-Price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APSO 6.7e-01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NM 1.7e+03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Schwefel 2.26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 3.3e+02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 2.6e+03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dca193ac34ae6"/>
          <a:stretch xmlns:a="http://schemas.openxmlformats.org/drawingml/2006/main"/>
        </p:blipFill>
        <p:spPr>
          <a:xfrm xmlns:a="http://schemas.openxmlformats.org/drawingml/2006/main">
            <a:off x="6667500" y="1945188"/>
            <a:ext cx="4953000" cy="211037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AD50E-0E74-4EF4-9855-A8842E8C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两个关键观察：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193E2-4565-4769-A775-6232BF53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① BFGS 在 Rosenbrock 上取得全场最优（误差 2.1e-10），评价次数仅几百次；但在 Rastrigin 上与 NM 一同垫底。梯度法适用于可导、单峰的规则地形。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4278C-CDEF-43B4-9907-E5F83CC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② 平均排名第一的 GWO 在 Schwefel 2.26 上反而最差，最好的 DE 也只把误差压到 327，全部算法均未达标。</a:t>
            </a:r>
          </a:p>
        </p:txBody>
      </p:sp>
    </p:spTree>
    <p:extLst>
      <p:ext uri="{BB962C8B-B14F-4D97-AF65-F5344CB8AC3E}">
        <p14:creationId xmlns:p14="http://schemas.microsoft.com/office/powerpoint/2010/main" val="1466510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6BC39-575F-48BD-9F77-29188CA1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基线对比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AEF35-8564-4A57-96E1-578C0BA9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同等评价预算下，智能算法比随机搜索高 8 至 300 个数量级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f84c37ed04eb5"/>
          <a:stretch xmlns:a="http://schemas.openxmlformats.org/drawingml/2006/main"/>
        </p:blipFill>
        <p:spPr>
          <a:xfrm xmlns:a="http://schemas.openxmlformats.org/drawingml/2006/main">
            <a:off x="1338166" y="1333500"/>
            <a:ext cx="9515669" cy="3238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4762500"/>
          <a:ext xmlns:a="http://schemas.openxmlformats.org/drawingml/2006/main" cx="5905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8500"/>
                <a:gridCol w="1968500"/>
                <a:gridCol w="196850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log10(误差中位数)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成功率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网格搜索 GRID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41.7%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随机搜索 RANDOM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种算法整体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-9.32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82.1%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6A9A2-9725-436F-8990-3A35EFB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12 个函数上智能算法全部优于基线，逐函数改进倍数从 2.1×10¹² 到直接命中（误差为 0）。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30B6B-5E19-482E-8754-FC323D62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网格搜索还受维度灾难的硬限制：10 维下即使每维只取 10 个点也需要 10¹⁰ 次评价，因此本文只在 2 维运行网格搜索。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81B72-71BA-48CF-AD49-D870DD3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这正是高维优化必须依赖智能算法的原因。</a:t>
            </a:r>
          </a:p>
        </p:txBody>
      </p:sp>
    </p:spTree>
    <p:extLst>
      <p:ext uri="{BB962C8B-B14F-4D97-AF65-F5344CB8AC3E}">
        <p14:creationId xmlns:p14="http://schemas.microsoft.com/office/powerpoint/2010/main" val="5202483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5A401-113B-4592-B3C8-5CADAA6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参数敏感性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39608-0BCC-4A19-93D6-95FC3DE2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参数选错可以让误差放大近两千倍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905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476375"/>
                <a:gridCol w="1476375"/>
                <a:gridCol w="1476375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 - 参数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最佳取值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最差取值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极差倍数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PSO 惯性权重 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0.729（3.19）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0.9（6.08e+03）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1909×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 缩放因子 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0.6（2.54）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0.2（2.41e+03）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948×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 降温半径指数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0.2（1.33e+03）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0.8（2.68e+05）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 变异概率倍数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0.5（3.38）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5.0（1.21e+02）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 交叉概率 CR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0.9（2.66）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1.0（78.3）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29×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GWO 种群规模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倍（1.59）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 倍（1.80）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1.1×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9277fc0a447f0"/>
          <a:stretch xmlns:a="http://schemas.openxmlformats.org/drawingml/2006/main"/>
        </p:blipFill>
        <p:spPr>
          <a:xfrm xmlns:a="http://schemas.openxmlformats.org/drawingml/2006/main">
            <a:off x="6667500" y="1592261"/>
            <a:ext cx="4953000" cy="33877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7F308-F8C3-4372-BD16-4DEA5171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参数影响可以与算法选择相当：PSO 惯性权重从 0.729 提到 0.9，误差放大 1909 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F73DA-A992-4D87-B8C0-A5EF4C15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参数有明确最优区间：DE 的 F 在 0.4~0.6 最佳，CR 取 1.0 反而变差 29 倍，说明保留部分父代信息有助于维持多样性。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CB0E4-3FC5-41EE-8EDD-C92081D2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参数鲁棒性差异源于算法结构：GWO 对种群规模几乎不敏感（1.1 倍），PSO 对惯性权重极其敏感。</a:t>
            </a:r>
          </a:p>
        </p:txBody>
      </p:sp>
    </p:spTree>
    <p:extLst>
      <p:ext uri="{BB962C8B-B14F-4D97-AF65-F5344CB8AC3E}">
        <p14:creationId xmlns:p14="http://schemas.microsoft.com/office/powerpoint/2010/main" val="1617800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15D7E-B790-4BC4-8323-D6C62745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寻优过程演示器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45120-B9E1-452C-8F4B-321E15D7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把抽象迭代过程做成可现场操作的动画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6AC36-ADB0-4F6B-AF4A-56AEE61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问题设置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E2B68-C64F-4587-9095-3820257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2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12 个函数下拉切换，自动显示搜索空间（高维为切片）、理论最优位置与函数特点。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C092C-D345-4CC9-8800-71B6E7C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算法设置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7AB6D-16FF-4B71-A55E-03A98B91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050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选择算法后动态出现该算法参数控件：交叉率、变异率、惯性权重、缩放因子、邻域步长等。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D6EA3-BA1E-413E-ADE6-38DF540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动画演示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6B59F-C972-4077-A04D-A055741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散点为当前种群，圆圈为当前最优个体，折线为历代最优位置轨迹；右侧同步绘制对数误差曲线。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9E9EA-5D7D-464A-BB91-ACB3F3FE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实时读数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0A993-BD10-4484-94CA-A43643B3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576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最优值、与理论最优的误差、是否达标、评价次数、耗时、收敛代数、最优解向量。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68668-3A0C-4D1C-B525-F928F1D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多算法对比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E9652-AF4F-4B0B-8556-FD744F8A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一键把结果加入对比表，并把收敛曲线以虚线叠加在同一张图上。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27D10-0E29-4AF1-9BD8-7FD56014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343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91ECB-CC1B-4A7E-B991-4D12BFF2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关键实现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32972-D5DA-463C-B6E6-0B52E0B0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先运行、后播放：算法一次性跑完并记录轨迹，动画只负责回放，计算与渲染解耦。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A46A5-070F-4111-9D78-81A9CA4D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绘图对象复用：等高线只画一次，每帧只更新散点、最优标记与轨迹三条对象。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D30BF-9533-440F-BEEE-FF5ED7F1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高维投影：绘制固定其余维度的二维切片，并在图上明确标注切片条件。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2D623-E9ED-442D-AB64-0C222DCB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启动方式：python src/simulator.py</a:t>
            </a:r>
          </a:p>
        </p:txBody>
      </p:sp>
    </p:spTree>
    <p:extLst>
      <p:ext uri="{BB962C8B-B14F-4D97-AF65-F5344CB8AC3E}">
        <p14:creationId xmlns:p14="http://schemas.microsoft.com/office/powerpoint/2010/main" val="1349849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AE905-44B2-49B5-B36F-AE5BB85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结论与不足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9692D-4C48-4F36-8AE5-7C9A6DE5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六点结论，五点不足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D0728-A9B4-4109-9D45-545734F5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主要结论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DC75F-3A6F-44F4-884B-9D0C588E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算法差异真实存在：三个维度 Friedman 检验 p 均远小于 1e-200，92/101 组两两比较显著。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220E3-CCB7-4D6D-9A5C-F21F9CB5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没有普适最优算法：APSO 在 10 维第一、GWO 在 30 维第一、DE 在 2 维第一。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4E342-7EDB-49AA-AD94-8D44186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改进策略有效：APSO 的平均排名优于标准 PSO（2.54 对 3.41）。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D4897-B527-4756-8C59-7504A342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传统方法边界清晰：BFGS 在单峰问题上最优，在多峰问题上垫底。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9097F-2DCB-44F9-9A90-63B35B2C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维度灾难可量化：SA 成功率从 59% 降到 0%，GWO 仍保持 51%。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866BF-2139-4B58-811C-0D64AEA7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参数选择与算法选择同等重要：误差极差可达 1909 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4DD24-E551-4299-ADA7-9AEF64F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33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不足与改进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C1121-20A7-4790-8BA5-99C452C3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测试函数为确定性合成函数，未覆盖噪声、约束与多目标情形。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F1341-A375-4539-A139-021636D0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对比算法未包含 CMA-ES、人工蜂群等强基线。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55A2F-E02D-4332-AF79-B1A6C7F6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以平均排名为主指标，对失败运行的处理仍可更精细。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B3362-099A-499B-BE71-2C4A45F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参数自适应机制为人工设定的线性调度，可改为状态驱动。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CAAD3-3DD1-431A-9489-C147AED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后续方向：引入 CEC 旋转平移函数集、扩展算法与统计方法、把演示器扩展为 Web 端。</a:t>
            </a:r>
          </a:p>
        </p:txBody>
      </p:sp>
    </p:spTree>
    <p:extLst>
      <p:ext uri="{BB962C8B-B14F-4D97-AF65-F5344CB8AC3E}">
        <p14:creationId xmlns:p14="http://schemas.microsoft.com/office/powerpoint/2010/main" val="13204019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36798-2582-4F27-8C89-2D21973E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43B"/>
          </a:solidFill>
          <a:ln xmlns:a="http://schemas.openxmlformats.org/drawingml/2006/main" w="0">
            <a:solidFill>
              <a:srgbClr val="E874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F81EE-CD59-42C8-952D-7D73647A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谢谢聆听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258A4-E15E-4BF2-A6FB-0BC181F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请各位老师批评指正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9E3B1-83EA-43AA-B847-7D966983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演示入口：python src/simulator.py　|　复现命令：python run_all.py</a:t>
            </a:r>
          </a:p>
        </p:txBody>
      </p:sp>
    </p:spTree>
    <p:extLst>
      <p:ext uri="{BB962C8B-B14F-4D97-AF65-F5344CB8AC3E}">
        <p14:creationId xmlns:p14="http://schemas.microsoft.com/office/powerpoint/2010/main" val="151874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2026-09-20T09:05:29.1170000Z</dcterms:created>
  <dcterms:modified xsi:type="dcterms:W3CDTF">2026-09-20T09:05:29.1170000Z</dcterms:modified>
</coreProperties>
</file>