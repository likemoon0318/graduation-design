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47daf636544f0f" /><Relationship Type="http://schemas.openxmlformats.org/officeDocument/2006/relationships/extended-properties" Target="/docProps/app.xml" Id="R7572adf5027a4db1" /><Relationship Type="http://schemas.openxmlformats.org/officeDocument/2006/relationships/officeDocument" Target="/ppt/presentation.xml" Id="R84f4441d8b3841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39aeda68a14f14"/>
  </p:sldMasterIdLst>
  <p:notesMasterIdLst>
    <p:notesMasterId xmlns:r="http://schemas.openxmlformats.org/officeDocument/2006/relationships" r:id="R839c01e511094b56"/>
  </p:notesMasterIdLst>
  <p:sldIdLst>
    <p:sldId xmlns:r="http://schemas.openxmlformats.org/officeDocument/2006/relationships" id="256" r:id="Reb215680a2ed411f"/>
    <p:sldId xmlns:r="http://schemas.openxmlformats.org/officeDocument/2006/relationships" id="257" r:id="R00a02176c1ee48e5"/>
    <p:sldId xmlns:r="http://schemas.openxmlformats.org/officeDocument/2006/relationships" id="258" r:id="Rc6cc2cec00704bce"/>
    <p:sldId xmlns:r="http://schemas.openxmlformats.org/officeDocument/2006/relationships" id="259" r:id="R369658e735c94640"/>
    <p:sldId xmlns:r="http://schemas.openxmlformats.org/officeDocument/2006/relationships" id="260" r:id="R0a0741ed6bac45c9"/>
    <p:sldId xmlns:r="http://schemas.openxmlformats.org/officeDocument/2006/relationships" id="261" r:id="R94046d43b13b4a19"/>
    <p:sldId xmlns:r="http://schemas.openxmlformats.org/officeDocument/2006/relationships" id="262" r:id="R8b2aa7a6f2d74289"/>
    <p:sldId xmlns:r="http://schemas.openxmlformats.org/officeDocument/2006/relationships" id="263" r:id="R09a90903e4f84b07"/>
    <p:sldId xmlns:r="http://schemas.openxmlformats.org/officeDocument/2006/relationships" id="264" r:id="R5eaaa41df3b94240"/>
    <p:sldId xmlns:r="http://schemas.openxmlformats.org/officeDocument/2006/relationships" id="265" r:id="Ra0b9cc6c58ac4a12"/>
    <p:sldId xmlns:r="http://schemas.openxmlformats.org/officeDocument/2006/relationships" id="266" r:id="R4be62e87c2634f12"/>
    <p:sldId xmlns:r="http://schemas.openxmlformats.org/officeDocument/2006/relationships" id="267" r:id="R3a8c7a211a414f85"/>
    <p:sldId xmlns:r="http://schemas.openxmlformats.org/officeDocument/2006/relationships" id="268" r:id="R40f10123fa4e41d8"/>
    <p:sldId xmlns:r="http://schemas.openxmlformats.org/officeDocument/2006/relationships" id="269" r:id="R5aac3ce74829472e"/>
    <p:sldId xmlns:r="http://schemas.openxmlformats.org/officeDocument/2006/relationships" id="270" r:id="Rf4fb770ecb6c4c59"/>
    <p:sldId xmlns:r="http://schemas.openxmlformats.org/officeDocument/2006/relationships" id="271" r:id="R57f311e5631942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3683822ea443a4" /><Relationship Type="http://schemas.openxmlformats.org/officeDocument/2006/relationships/slideMaster" Target="/ppt/slideMasters/slideMaster1.xml" Id="Raf39aeda68a14f14" /><Relationship Type="http://schemas.openxmlformats.org/officeDocument/2006/relationships/notesMaster" Target="/ppt/notesMasters/notesMaster1.xml" Id="R839c01e511094b56" /><Relationship Type="http://schemas.openxmlformats.org/officeDocument/2006/relationships/presProps" Target="/ppt/presProps.xml" Id="R00ac4a61c7d64492" /><Relationship Type="http://schemas.openxmlformats.org/officeDocument/2006/relationships/tableStyles" Target="/ppt/tableStyles.xml" Id="Rf4e0a5c1a26d4a10" /><Relationship Type="http://schemas.openxmlformats.org/officeDocument/2006/relationships/slide" Target="/ppt/slides/slide1.xml" Id="Reb215680a2ed411f" /><Relationship Type="http://schemas.openxmlformats.org/officeDocument/2006/relationships/slide" Target="/ppt/slides/slide2.xml" Id="R00a02176c1ee48e5" /><Relationship Type="http://schemas.openxmlformats.org/officeDocument/2006/relationships/slide" Target="/ppt/slides/slide3.xml" Id="Rc6cc2cec00704bce" /><Relationship Type="http://schemas.openxmlformats.org/officeDocument/2006/relationships/slide" Target="/ppt/slides/slide4.xml" Id="R369658e735c94640" /><Relationship Type="http://schemas.openxmlformats.org/officeDocument/2006/relationships/slide" Target="/ppt/slides/slide5.xml" Id="R0a0741ed6bac45c9" /><Relationship Type="http://schemas.openxmlformats.org/officeDocument/2006/relationships/slide" Target="/ppt/slides/slide6.xml" Id="R94046d43b13b4a19" /><Relationship Type="http://schemas.openxmlformats.org/officeDocument/2006/relationships/slide" Target="/ppt/slides/slide7.xml" Id="R8b2aa7a6f2d74289" /><Relationship Type="http://schemas.openxmlformats.org/officeDocument/2006/relationships/slide" Target="/ppt/slides/slide8.xml" Id="R09a90903e4f84b07" /><Relationship Type="http://schemas.openxmlformats.org/officeDocument/2006/relationships/slide" Target="/ppt/slides/slide9.xml" Id="R5eaaa41df3b94240" /><Relationship Type="http://schemas.openxmlformats.org/officeDocument/2006/relationships/slide" Target="/ppt/slides/slide10.xml" Id="Ra0b9cc6c58ac4a12" /><Relationship Type="http://schemas.openxmlformats.org/officeDocument/2006/relationships/slide" Target="/ppt/slides/slide11.xml" Id="R4be62e87c2634f12" /><Relationship Type="http://schemas.openxmlformats.org/officeDocument/2006/relationships/slide" Target="/ppt/slides/slide12.xml" Id="R3a8c7a211a414f85" /><Relationship Type="http://schemas.openxmlformats.org/officeDocument/2006/relationships/slide" Target="/ppt/slides/slide13.xml" Id="R40f10123fa4e41d8" /><Relationship Type="http://schemas.openxmlformats.org/officeDocument/2006/relationships/slide" Target="/ppt/slides/slide14.xml" Id="R5aac3ce74829472e" /><Relationship Type="http://schemas.openxmlformats.org/officeDocument/2006/relationships/slide" Target="/ppt/slides/slide15.xml" Id="Rf4fb770ecb6c4c59" /><Relationship Type="http://schemas.openxmlformats.org/officeDocument/2006/relationships/slide" Target="/ppt/slides/slide16.xml" Id="R57f311e5631942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3a857149cd4c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bb8b0f2be74072" /><Relationship Type="http://schemas.openxmlformats.org/officeDocument/2006/relationships/notesMaster" Target="/ppt/notesMasters/notesMaster1.xml" Id="R38401eb974aa4f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1d87bd9e6e49f3" /><Relationship Type="http://schemas.openxmlformats.org/officeDocument/2006/relationships/notesMaster" Target="/ppt/notesMasters/notesMaster1.xml" Id="R63ab7983497f4b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a3e503854e49f0" /><Relationship Type="http://schemas.openxmlformats.org/officeDocument/2006/relationships/notesMaster" Target="/ppt/notesMasters/notesMaster1.xml" Id="R5995d44ffffa46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806497d01e49f5" /><Relationship Type="http://schemas.openxmlformats.org/officeDocument/2006/relationships/notesMaster" Target="/ppt/notesMasters/notesMaster1.xml" Id="Rd854da4d0e8e47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f0a3cf540540f2" /><Relationship Type="http://schemas.openxmlformats.org/officeDocument/2006/relationships/notesMaster" Target="/ppt/notesMasters/notesMaster1.xml" Id="R63e468a7386840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e79332850b4aef" /><Relationship Type="http://schemas.openxmlformats.org/officeDocument/2006/relationships/notesMaster" Target="/ppt/notesMasters/notesMaster1.xml" Id="Rab35c47b9e314a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5b312bdc3e4f79" /><Relationship Type="http://schemas.openxmlformats.org/officeDocument/2006/relationships/notesMaster" Target="/ppt/notesMasters/notesMaster1.xml" Id="R8c2ab237cc1845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58963748f640ae" /><Relationship Type="http://schemas.openxmlformats.org/officeDocument/2006/relationships/notesMaster" Target="/ppt/notesMasters/notesMaster1.xml" Id="Rff7986ccdccd4a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4f86dcd9c04354" /><Relationship Type="http://schemas.openxmlformats.org/officeDocument/2006/relationships/notesMaster" Target="/ppt/notesMasters/notesMaster1.xml" Id="R87156f0f48c046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724a5b05934b0b" /><Relationship Type="http://schemas.openxmlformats.org/officeDocument/2006/relationships/notesMaster" Target="/ppt/notesMasters/notesMaster1.xml" Id="Rb908dfd1045a4b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cbbe0cfbd94465" /><Relationship Type="http://schemas.openxmlformats.org/officeDocument/2006/relationships/notesMaster" Target="/ppt/notesMasters/notesMaster1.xml" Id="R114b830ac25a4c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3964a1c0304b52" /><Relationship Type="http://schemas.openxmlformats.org/officeDocument/2006/relationships/notesMaster" Target="/ppt/notesMasters/notesMaster1.xml" Id="Rbde7b337a69948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4cba97c48b4b5f" /><Relationship Type="http://schemas.openxmlformats.org/officeDocument/2006/relationships/notesMaster" Target="/ppt/notesMasters/notesMaster1.xml" Id="Rb386e5c2787c4d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caa9fe24cd4d2e" /><Relationship Type="http://schemas.openxmlformats.org/officeDocument/2006/relationships/notesMaster" Target="/ppt/notesMasters/notesMaster1.xml" Id="R174d6c8f106348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afe77b1b1154a55" /><Relationship Type="http://schemas.openxmlformats.org/officeDocument/2006/relationships/notesMaster" Target="/ppt/notesMasters/notesMaster1.xml" Id="R3a894658e7364c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643a4f6b3c4253" /><Relationship Type="http://schemas.openxmlformats.org/officeDocument/2006/relationships/notesMaster" Target="/ppt/notesMasters/notesMaster1.xml" Id="Rb2926d3ec6444d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开场：各位老师好，我汇报的是项目一《基于 Python 的电商销售数据分析与可视化系统》。这个项目要回答的核心问题是：面对一份带有各种质量问题的电商订单数据，如何从清洗、统计检验一直做到可视化看板。（约 30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汇报顺序：先讲清楚数据从哪来、怎么清洗，再讲分析和检验，然后是建模与看板，最后是结论。（约 20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强调三点：第一，数据来源完全可控可复现；第二，清洗不是走过场，而是针对六类真实质量问题；第三，所有结论都有统计检验支撑。（约 60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这一页专门回答“数据哪来的”。要点：仿真参数可控可解释，使用固定种子保证可复现，并保留了业务相关性结构。（约 70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说明清洗不是走过场：每类问题都有明确的注入规模与处理方式，并能给出清洗前后的行数核对结果。这是回答“数据是否造假”最有力的材料。（约 60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先给出全局数字，并强调分布右偏——这一点决定了后面不能只用平均值看问题。（约 40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把趋势图和时段规律一起讲：趋势说明增长，双峰说明促销是主要波动来源，时段规律可以直接用于推送排期。（约 45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结构分析是后面结论的基础：品类高度集中意味着库存与售后资源要优先给头部品类；渠道客单价几乎一致，说明渠道不是消费能力差异的来源。（约 50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地区部分强调两点：消费能力有梯度，但促销节奏全国一致；这为大促预算分配提供了依据。（约 40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 H3 与 H4 的对比：品类与退货强相关，渠道与退货无关，这直接决定了退货治理的方向。也要说明为什么附加非参数检验与效应量。（约 70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这是全篇最重要的一页。把两个发现讲清楚，并落到具体管理动作上。如果老师问“为什么大促退货率更高”，可以答：冲动消费比例上升、以及活动前后价差引发比价退货。（约 70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讲清 k 的选择依据（轮廓系数与 SSE 拐点折中 + 业务可解释性），并强调分群结果能对应到具体运营动作。（约 60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两个模型分别回答“金额由什么决定”和“哪些订单可能退货”。重点解释类别加权的必要性，以及模型的正确用法（预警而非自动决策）。（约 60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现场演示环节：启动看板，演示一次筛选联动与图表切换，再导出一次 CSV。如果演示时间紧张，可以只演示“筛选地区 + 切换帕累托图 + 导出”三个动作。（约 60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结论按“结构—促销—退货—评分—客户—模型”顺序快速过一遍，不足部分主动说明数据来源的局限，表明对研究边界有清醒认识。（约 60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结束语，然后进入提问环节。准备好回答：数据来源、清洗细节、为什么选这些方法、结论是否可靠。（约 15 秒）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6a412ef50f44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f38fa4b5b14dea" /><Relationship Type="http://schemas.openxmlformats.org/officeDocument/2006/relationships/slideLayout" Target="/ppt/slideLayouts/slideLayout1.xml" Id="R753f735bc8bf44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3f735bc8bf44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8bee8fb7d4dac" /><Relationship Type="http://schemas.openxmlformats.org/officeDocument/2006/relationships/notesSlide" Target="/ppt/notesSlides/notesSlide1.xml" Id="Rf32562a85ff647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1a1e8aff14d99" /><Relationship Type="http://schemas.openxmlformats.org/officeDocument/2006/relationships/notesSlide" Target="/ppt/notesSlides/notesSlide2.xml" Id="R783e8704659f49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add03d9f343d9" /><Relationship Type="http://schemas.openxmlformats.org/officeDocument/2006/relationships/image" Target="/ppt/media/image.png" Id="R6ad6e7c88a584456" /><Relationship Type="http://schemas.openxmlformats.org/officeDocument/2006/relationships/notesSlide" Target="/ppt/notesSlides/notesSlide3.xml" Id="R005230b70a734c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98fd23ad1405d" /><Relationship Type="http://schemas.openxmlformats.org/officeDocument/2006/relationships/notesSlide" Target="/ppt/notesSlides/notesSlide4.xml" Id="R4d40f35efce448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6fdcc08fd4377" /><Relationship Type="http://schemas.openxmlformats.org/officeDocument/2006/relationships/notesSlide" Target="/ppt/notesSlides/notesSlide5.xml" Id="R14526db2a95b41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c6645c3c94fbf" /><Relationship Type="http://schemas.openxmlformats.org/officeDocument/2006/relationships/notesSlide" Target="/ppt/notesSlides/notesSlide6.xml" Id="R0798ca4c23e542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fcefa7cb64248" /><Relationship Type="http://schemas.openxmlformats.org/officeDocument/2006/relationships/image" Target="/ppt/media/image2.png" Id="R9820230d58ea4863" /><Relationship Type="http://schemas.openxmlformats.org/officeDocument/2006/relationships/notesSlide" Target="/ppt/notesSlides/notesSlide7.xml" Id="Rcc58661135e747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d3fada2e94aee" /><Relationship Type="http://schemas.openxmlformats.org/officeDocument/2006/relationships/image" Target="/ppt/media/image3.png" Id="R20faeadcb7c0414d" /><Relationship Type="http://schemas.openxmlformats.org/officeDocument/2006/relationships/image" Target="/ppt/media/image4.png" Id="R27c8eede5b5849cb" /><Relationship Type="http://schemas.openxmlformats.org/officeDocument/2006/relationships/notesSlide" Target="/ppt/notesSlides/notesSlide8.xml" Id="R2f2c421a423948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c5dc6459b4f26" /><Relationship Type="http://schemas.openxmlformats.org/officeDocument/2006/relationships/image" Target="/ppt/media/image5.png" Id="Ra7b41656004c4763" /><Relationship Type="http://schemas.openxmlformats.org/officeDocument/2006/relationships/notesSlide" Target="/ppt/notesSlides/notesSlide9.xml" Id="Ra88c90183d9443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bb19f6e0b4101" /><Relationship Type="http://schemas.openxmlformats.org/officeDocument/2006/relationships/notesSlide" Target="/ppt/notesSlides/notesSlide10.xml" Id="R5cae0fc83fdd49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0d9048a374ea3" /><Relationship Type="http://schemas.openxmlformats.org/officeDocument/2006/relationships/image" Target="/ppt/media/image6.png" Id="Rb58bb46cafd942e0" /><Relationship Type="http://schemas.openxmlformats.org/officeDocument/2006/relationships/image" Target="/ppt/media/image7.png" Id="Rb8f9fe24628e4564" /><Relationship Type="http://schemas.openxmlformats.org/officeDocument/2006/relationships/notesSlide" Target="/ppt/notesSlides/notesSlide11.xml" Id="R0893746c4fbe4a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33c6fc9df44dd" /><Relationship Type="http://schemas.openxmlformats.org/officeDocument/2006/relationships/image" Target="/ppt/media/image8.png" Id="R805afb799ff84e78" /><Relationship Type="http://schemas.openxmlformats.org/officeDocument/2006/relationships/notesSlide" Target="/ppt/notesSlides/notesSlide12.xml" Id="R3b232fab716248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00fa4a31d457f" /><Relationship Type="http://schemas.openxmlformats.org/officeDocument/2006/relationships/image" Target="/ppt/media/image9.png" Id="R57e743987d624ba7" /><Relationship Type="http://schemas.openxmlformats.org/officeDocument/2006/relationships/notesSlide" Target="/ppt/notesSlides/notesSlide13.xml" Id="R7c819a1ffbf64a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5547a610b4d05" /><Relationship Type="http://schemas.openxmlformats.org/officeDocument/2006/relationships/image" Target="/ppt/media/image10.png" Id="Raf193fd729fa4ba6" /><Relationship Type="http://schemas.openxmlformats.org/officeDocument/2006/relationships/notesSlide" Target="/ppt/notesSlides/notesSlide14.xml" Id="R1cafa6361904400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5a0d7f72d4c47" /><Relationship Type="http://schemas.openxmlformats.org/officeDocument/2006/relationships/notesSlide" Target="/ppt/notesSlides/notesSlide15.xml" Id="Rd0aae78969244d0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195947efe4e6e" /><Relationship Type="http://schemas.openxmlformats.org/officeDocument/2006/relationships/notesSlide" Target="/ppt/notesSlides/notesSlide16.xml" Id="Rffa24a26ca3349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286AC-9521-45E3-B0AC-CCE92575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43B"/>
          </a:solidFill>
          <a:ln xmlns:a="http://schemas.openxmlformats.org/drawingml/2006/main" w="0">
            <a:solidFill>
              <a:srgbClr val="E8743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C12B7-7CEB-4541-94E9-5EFD79CB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专业综合设计答辩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D4518-76DA-49B1-9A86-7D96E9F6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基于 Python 的电商销售数据分析与可视化系统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1E678-F571-44C7-BAF8-60C1F9D1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数据仿真 · 数据清洗 · 统计检验 · 客户分群 · 交互式看板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7609E-8EB5-4A51-B842-ACA971F4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汇报人：________　　学号：________　　指导教师：________　　2026 年 9 月</a:t>
            </a:r>
          </a:p>
        </p:txBody>
      </p:sp>
    </p:spTree>
    <p:extLst>
      <p:ext uri="{BB962C8B-B14F-4D97-AF65-F5344CB8AC3E}">
        <p14:creationId xmlns:p14="http://schemas.microsoft.com/office/powerpoint/2010/main" val="892011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E0EEA-C373-4B1A-9C2D-5E07E46A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汇报提纲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790BA-37E0-49A8-A01B-6E0FF184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五个部分说明这套系统做了什么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B738F-D57A-450A-BBD0-D01FC593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BC9A7-29E2-42B2-AA25-8DAFE47D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04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选题背景与系统结构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5FF82-EEFC-48E3-AE9F-C8999A76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4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为什么要做全链路分析，系统分几层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8644A-1FDF-40C3-AA03-F3164744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D9789-54E6-4CDE-8292-A01DB8A5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数据来源与清洗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491DF-BFB5-4BC4-A532-A5859C88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62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仿真建模思路与六类数据质量问题的处理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BE5C6-72D3-487E-9F64-1DD3C890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B4415-A2C4-4CBF-AC5F-4911683F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分析与检验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5D789-571C-4A05-A01C-E8BDD00B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76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描述统计、七项假设检验、统计结论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4F277-3771-46A5-8738-01EB207C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28616-B418-4AB0-9F5F-631854A2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48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客户分群与建模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F8E3A-CC14-400D-93B6-2598E1D1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91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RFM 分群、订单金额回归、退货预警模型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901D57-1F05-4919-92C7-5C85D493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73A0D-9259-487A-A34D-6F594400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62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交互式看板与结论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409FF-FEF8-4B2B-9C71-40848FE9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05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看板功能、主要结论与不足</a:t>
            </a:r>
          </a:p>
        </p:txBody>
      </p:sp>
    </p:spTree>
    <p:extLst>
      <p:ext uri="{BB962C8B-B14F-4D97-AF65-F5344CB8AC3E}">
        <p14:creationId xmlns:p14="http://schemas.microsoft.com/office/powerpoint/2010/main" val="1547604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87DF9-0A43-4856-B6B7-C65CF11E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选题背景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BCF08-AED9-43E6-ACB4-FC233791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运营决策需要能解释“为什么”的分析，而不只是报表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0FAB8-5328-4BFC-9EFB-942F2B12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电商进入存量竞争：流量成本上升、退货成本居高不下，运营转向精细化。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F692D-C938-49B7-99CB-BC1E365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单一报表只能回答“是多少”，无法回答“促销是否有效”“退货集中在哪里”。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9385B-7415-4059-966F-ABB6CCDD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教学案例常见三个问题：数据来源模糊、清洗被简化、结论缺少统计支撑。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5876D-43AB-41EA-BF7A-9AB59FC3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本项目的做法：数据由仿真模型生成并可复现；清洗过程全程留痕；结论全部给出检验依据。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6e7c88a584456"/>
          <a:stretch xmlns:a="http://schemas.openxmlformats.org/drawingml/2006/main"/>
        </p:blipFill>
        <p:spPr>
          <a:xfrm xmlns:a="http://schemas.openxmlformats.org/drawingml/2006/main">
            <a:off x="6667500" y="1897820"/>
            <a:ext cx="4953000" cy="334810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3E288-255F-494C-84BF-DDCC6839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05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技术路线：数据层 → 处理层 → 分析层 → 应用层</a:t>
            </a:r>
          </a:p>
        </p:txBody>
      </p:sp>
    </p:spTree>
    <p:extLst>
      <p:ext uri="{BB962C8B-B14F-4D97-AF65-F5344CB8AC3E}">
        <p14:creationId xmlns:p14="http://schemas.microsoft.com/office/powerpoint/2010/main" val="14764496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77309-F346-4D2B-9792-98A6A80C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数据来源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CF016-2642-499C-A649-552662C8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订单数据由仿真模型生成，随机种子固定，结果可复现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5905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952750"/>
              </a:tblGrid>
              <a:tr h="381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仿真维度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建模方式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年度趋势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对数增长基线，全年约 +18%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季节波动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夏（618）、冬（双 11）双峰高斯叠加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周周期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周五至周日上浮，周一最低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大促脉冲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 个真实档期逐日脉冲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地区梯度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 个省份按消费能力加权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渠道漂移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 与小程序上升，网页与线下下降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客户行为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万名客户，活跃度呈幂律分布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769D5-9AFD-4BC8-8C61-ABE991B1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生成结果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D35BA-97DD-483B-8D60-82B7C695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2025 全年　291,045 条原始订单　|　清洗后 289,310 条　|　销售额 3.27 亿元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262E0-5E65-455D-973C-D9CD9452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关键说明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133B2-7D8C-46C1-864C-11644EE3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6690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老师最常问的是“数据从哪来”：本项目的数据由带业务机理的仿真模型生成，参数写在配置文件中，任何人都可以用一条命令重新生成同样的数据。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54C5F-2CEC-432F-925E-0C38DF22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56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仿真数据在结构上保留了真实业务的相关性：品类影响客单价与退货率、大促影响折扣与销量、评分与退货负相关。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1D444-C9B4-4DD1-B983-12688C4E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2440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正因为结构可控，后续分析才能得到有统计意义的结论，而不是被无关噪声淹没。</a:t>
            </a:r>
          </a:p>
        </p:txBody>
      </p:sp>
    </p:spTree>
    <p:extLst>
      <p:ext uri="{BB962C8B-B14F-4D97-AF65-F5344CB8AC3E}">
        <p14:creationId xmlns:p14="http://schemas.microsoft.com/office/powerpoint/2010/main" val="12948176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15737-CB1A-44C1-A43F-860766D9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数据清洗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9ACD1-33DE-45F3-BC94-796853C3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刻意注入六类质量问题，清洗过程全程留痕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381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问题类型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注入规模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处理方式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缺失值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省份与城市 2.0%、数量 0.8%、评分 8.0%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按语义补全或保留并标记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重复记录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整行重复 1,735 条（0.60%）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去重并重新生成订单号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格式混乱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金额含货币符号与千分位 2.0%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剥离符号后转数值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勾稽不符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数量或金额与公式不一致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 单价×数量−优惠 反推修正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离群值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IQR 识别金额异常 1,535 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标记为异常值，回归与建模时剔除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文本不规范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渠道与品类含空格、大小写不一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去空格并统一大小写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07285-8084-43A1-BBDC-3FB73935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清洗前后：291,045 → 289,310 条（−1,735 条，与重复记录数完全吻合）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BE345-80F9-45EE-A533-490C9251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九项自动校验全部通过：重复 0 / 金额缺失 0 / 勾稽不符 0 / 地区为空 0 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ABBF7-CB24-48B1-A466-7EC62F4C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质量报告：results/tables/data_quality_report.csv，共 13 条问题记录与处理方式对照</a:t>
            </a:r>
          </a:p>
        </p:txBody>
      </p:sp>
    </p:spTree>
    <p:extLst>
      <p:ext uri="{BB962C8B-B14F-4D97-AF65-F5344CB8AC3E}">
        <p14:creationId xmlns:p14="http://schemas.microsoft.com/office/powerpoint/2010/main" val="17977254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B9AE5-CBEA-40B4-9612-CC40A066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总体经营指标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0F0A6-C693-46EF-9AD5-3E83D3F3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全年销售额 3.27 亿元，客单价 1128.65 元，退货率 10.19%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DC8D8-C4D8-40F7-9D47-A6BF601B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057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CE3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8162B-A3C2-463D-A56B-869BB5F7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订单量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D252F-A90D-4D54-9A48-BBC8A834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289,310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409E4-C323-4954-8989-7E81F707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19250"/>
            <a:ext cx="2057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CE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3F543-71D5-49B1-8DAD-D0F0F4FC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716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销售额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8AF3C-AA6A-4EF6-AE4C-1BCC3FB5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193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3.27 亿元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D8A3E-204E-44E7-8941-7A318D89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19250"/>
            <a:ext cx="2057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CE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150CC-9718-45CD-82AB-E5F73A4A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716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客单价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323C8-7669-492F-95EF-9FCBB5D7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193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C9F7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4C9F70"/>
                </a:solidFill>
                <a:latin typeface="PingFang SC"/>
                <a:ea typeface="PingFang SC"/>
                <a:cs typeface="PingFang SC"/>
              </a:rPr>
              <a:t>1128.65 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7D41F-56A9-404A-B77F-7135243B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2057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CE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FD3B1-006D-4350-BBFF-F9B496F8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716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退货率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CDEFA-1693-4770-862C-49EB42B2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193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5484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5484A"/>
                </a:solidFill>
                <a:latin typeface="PingFang SC"/>
                <a:ea typeface="PingFang SC"/>
                <a:cs typeface="PingFang SC"/>
              </a:rPr>
              <a:t>10.19%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77A16C-3292-44E1-9D5A-B24FE5BB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19250"/>
            <a:ext cx="2057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CE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BE2CB-8EA6-4E4D-9AAC-6E8E254C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716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消费客户数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38298-733D-4BA1-994E-CD9195E7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193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E6C9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E6C9E"/>
                </a:solidFill>
                <a:latin typeface="PingFang SC"/>
                <a:ea typeface="PingFang SC"/>
                <a:cs typeface="PingFang SC"/>
              </a:rPr>
              <a:t>19,524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249B55-F771-4074-B364-426D5C9D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分布特征：订单金额中位数 347.46 元，远低于均值 1128.65 元，偏度 7.48、变异系数 2.22，属于强右偏重尾分布。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3A4D8B-6EC2-494D-A349-3ADF0468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日均销售额 89.5 万元；峰值出现在 6 月 22 日，单日销售额 201.7 万元，约为日均的 2.3 倍。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CC2B1-AF3B-4B08-B826-628467C3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购买行为：平均购买数量 1.62 件，绝大多数订单只购买一件商品；用户评分集中在 4~5 分区间（均值 4.325）。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253B2-1A51-4FEA-8148-D4EB2D9A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这些指标说明：均值容易被高价订单拉高，后续分析需要结合中位数与分组结论。</a:t>
            </a:r>
          </a:p>
        </p:txBody>
      </p:sp>
    </p:spTree>
    <p:extLst>
      <p:ext uri="{BB962C8B-B14F-4D97-AF65-F5344CB8AC3E}">
        <p14:creationId xmlns:p14="http://schemas.microsoft.com/office/powerpoint/2010/main" val="1553305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80DD8-F984-4F4B-B425-EAC46FD1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时间规律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4D771-428A-4EF6-B379-193B0EB8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促销是全年销售额的主要波动来源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0230d58ea4863"/>
          <a:stretch xmlns:a="http://schemas.openxmlformats.org/drawingml/2006/main"/>
        </p:blipFill>
        <p:spPr>
          <a:xfrm xmlns:a="http://schemas.openxmlformats.org/drawingml/2006/main">
            <a:off x="1993264" y="1333500"/>
            <a:ext cx="8205472" cy="3238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0722C-B941-43D8-982A-41BDBA5F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7 日移动平均从年初约 70 万元/日上升到年末约 110 万元/日，平台规模自然增长。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88FAC-1BDD-417C-BCBB-095A3D19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6 月与 11 月形成两个明显高峰，与 618、双 11 档期完全对应。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4941D-F5E5-4210-AC43-59C9ED38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下单时段呈双峰：上午 10—11 点与晚间 20—22 点，凌晨为低谷。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A1B1C-DC04-45B1-8DA1-229B7F78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67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周末晚间高峰更宽更高，说明休闲时段消费意愿更强。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9D4D8-7B48-4430-9810-04B7EE28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运营含义：促销节奏与推送时段可以直接按这两条规律安排。</a:t>
            </a:r>
          </a:p>
        </p:txBody>
      </p:sp>
    </p:spTree>
    <p:extLst>
      <p:ext uri="{BB962C8B-B14F-4D97-AF65-F5344CB8AC3E}">
        <p14:creationId xmlns:p14="http://schemas.microsoft.com/office/powerpoint/2010/main" val="14194800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621CF-2F70-4A3D-9946-6F9CB4C5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结构分析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CC98F-FBB3-4662-AB1F-00CBFD25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销售额高度集中：两个品类贡献近七成，移动端占比超七成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aeadcb7c0414d"/>
          <a:stretch xmlns:a="http://schemas.openxmlformats.org/drawingml/2006/main"/>
        </p:blipFill>
        <p:spPr>
          <a:xfrm xmlns:a="http://schemas.openxmlformats.org/drawingml/2006/main">
            <a:off x="609600" y="1606298"/>
            <a:ext cx="5334000" cy="2597653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8eede5b5849cb"/>
          <a:stretch xmlns:a="http://schemas.openxmlformats.org/drawingml/2006/main"/>
        </p:blipFill>
        <p:spPr>
          <a:xfrm xmlns:a="http://schemas.openxmlformats.org/drawingml/2006/main">
            <a:off x="6286500" y="1895418"/>
            <a:ext cx="5334000" cy="201941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EFE8D-871C-4CDF-8D1C-208BD671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手机数码 45.41%、家用电器 23.59%，合计 69.0%；前三个品类累计 82.9%。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2B7C7-1F0B-450B-939E-C8ADEE16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图书文娱销售额占比仅 0.56%，但订单量不低，属于低价引流品类。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D6C06-89D5-4F73-ABFF-1BA76852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APP 45.6% + 小程序 27.6%，移动端合计超七成；各渠道客单价差异很小（1118~1139 元）。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60891-5898-4235-8B4E-80CF2A62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网页与线下门店占比逐月下降，渠道结构正在向移动端迁移。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C2D4B-A86D-45A6-BE0F-A987AD38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结论：资源应向头部品类与移动端倾斜；渠道差异体现在规模，而不是消费能力。</a:t>
            </a:r>
          </a:p>
        </p:txBody>
      </p:sp>
    </p:spTree>
    <p:extLst>
      <p:ext uri="{BB962C8B-B14F-4D97-AF65-F5344CB8AC3E}">
        <p14:creationId xmlns:p14="http://schemas.microsoft.com/office/powerpoint/2010/main" val="13304797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A332A-1EF7-4325-88A7-3A637331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地区分布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111C0-155F-48CE-86BC-BAE66EAA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广东、北京、上海三地贡献近四成销售额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41656004c4763"/>
          <a:stretch xmlns:a="http://schemas.openxmlformats.org/drawingml/2006/main"/>
        </p:blipFill>
        <p:spPr>
          <a:xfrm xmlns:a="http://schemas.openxmlformats.org/drawingml/2006/main">
            <a:off x="609600" y="1823818"/>
            <a:ext cx="5905500" cy="2257864"/>
          </a:xfrm>
          <a:prstGeom xmlns:a="http://schemas.openxmlformats.org/drawingml/2006/main" prst="rect">
            <a:avLst/>
          </a:prstGeom>
        </p:spPr>
      </p:pic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0" y="1428750"/>
          <a:ext xmlns:a="http://schemas.openxmlformats.org/drawingml/2006/main" cx="45720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381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省份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销售额占比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广东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15.92%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北京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12.04%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11.61%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江苏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9.37%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浙江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9.03%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54DB9-C79B-4F03-9F7F-33CA94BD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各地区客单价差异明显：北京 1359 元、广东 1302 元，高于中西部省份；但退货率都在 10% 左右，差异不大。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8E7E3-0B32-43F8-A306-D107C029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各地区的月度曲线形态高度一致，峰值都出现在 6 月与 11 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66045-1417-4644-9CD0-D3892921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说明大促是全国统一节奏，地区差异体现在水平而非节奏。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43B2E-2B58-4A91-A680-AF06CFB2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运营含义：大促预算可按地区历史销售额占比分配。</a:t>
            </a:r>
          </a:p>
        </p:txBody>
      </p:sp>
    </p:spTree>
    <p:extLst>
      <p:ext uri="{BB962C8B-B14F-4D97-AF65-F5344CB8AC3E}">
        <p14:creationId xmlns:p14="http://schemas.microsoft.com/office/powerpoint/2010/main" val="10203938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A4D6D-E935-48B2-AE1C-87F0A980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统计检验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F4EE0-0A5F-4609-AD9A-0EC5FE98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七项假设检验全部给出统计量、p 值与效应量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81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编号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研究问题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检验方法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显著性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结论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大促与平日客单价是否有差异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Welch t 检验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 &lt; 1e-100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大促客单价显著更低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各地区订单金额是否有差异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单因素方差分析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 &lt; 1e-200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地区差异显著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品类与退货是否独立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卡方检验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 &lt; 1e-300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品类显著影响退货（V=0.280）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渠道与退货是否独立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卡方检验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 = 0.055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不显著（V=0.005）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退货订单评分是否更低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Mann-Whitney 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 &lt; 1e-300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退货订单评分更低（4.07 vs 4.35）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会员等级客单价是否有差异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单因素方差分析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 &lt; 1e-50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等级越高客单价越高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单价与订单金额是否相关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Spearman 秩相关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 &lt; 1e-300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强相关（ρ = 0.913）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B0685-8C04-46D6-A613-58859B99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方法说明：大样本下用 Welch t 检验（不要求方差齐性）；多组比较用方差分析并附非参数检验做稳健性验证；分类变量用卡方检验并以 Cramér's V 衡量强度。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8DFF8-56AA-4A92-9219-014E092E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为避免“只报 p 值不报效应量”，每项检验都同时给出 Cohen's d、eta² 或 Cramér's V。</a:t>
            </a:r>
          </a:p>
        </p:txBody>
      </p:sp>
    </p:spTree>
    <p:extLst>
      <p:ext uri="{BB962C8B-B14F-4D97-AF65-F5344CB8AC3E}">
        <p14:creationId xmlns:p14="http://schemas.microsoft.com/office/powerpoint/2010/main" val="20951621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ECA48-E2FF-46A9-96FE-8D92C405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关键发现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0D3EE-883A-4F04-A097-5B8FE507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促销是“以价换量”，退货是“品类属性问题”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bb46cafd942e0"/>
          <a:stretch xmlns:a="http://schemas.openxmlformats.org/drawingml/2006/main"/>
        </p:blipFill>
        <p:spPr>
          <a:xfrm xmlns:a="http://schemas.openxmlformats.org/drawingml/2006/main">
            <a:off x="609600" y="1869073"/>
            <a:ext cx="5334000" cy="1786353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9fe24628e4564"/>
          <a:stretch xmlns:a="http://schemas.openxmlformats.org/drawingml/2006/main"/>
        </p:blipFill>
        <p:spPr>
          <a:xfrm xmlns:a="http://schemas.openxmlformats.org/drawingml/2006/main">
            <a:off x="6286500" y="1822499"/>
            <a:ext cx="5334000" cy="187950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EC685-4F0D-4497-AF2A-C9C038BE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发现一：大促期间客单价 931.97 元，显著低于平日 1206.55 元（p &lt; 1e-100），但订单量从 20.7 万单提升到 8.2 万单的大促区间；同时退货率从 9.3% 升到 12.4%。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0FBBE-6D4D-435D-A0BA-DDD143FC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发现二：评分与退货率单调递减——评分 1 分退货率 42.1%，评分 5 分仅 6.9%；服饰鞋包退货率 24.0%，图书文娱仅 1.7%。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9606B-D5FB-43C4-B62A-6623BCBA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管理含义：促销评估必须同时看毛利率与退货成本；退货治理应聚焦商品端（尺码信息、详情页描述、质量管控），而不是下单入口。</a:t>
            </a:r>
          </a:p>
        </p:txBody>
      </p:sp>
    </p:spTree>
    <p:extLst>
      <p:ext uri="{BB962C8B-B14F-4D97-AF65-F5344CB8AC3E}">
        <p14:creationId xmlns:p14="http://schemas.microsoft.com/office/powerpoint/2010/main" val="14217971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642DD-7677-4ACC-88A2-DC1785E5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客户分群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A6FE4-A0FA-4A81-8E0C-ABC8684C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RFM + KMeans 把 19,524 名客户分成四群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6667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333500"/>
                <a:gridCol w="1333500"/>
                <a:gridCol w="1333500"/>
                <a:gridCol w="1333500"/>
              </a:tblGrid>
              <a:tr h="381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客户群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客户数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占比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平均消费额（元）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运营策略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核心价值客户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3,736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29,035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最近活跃、高频高额，重点维护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稳定活跃客户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6,112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31.3%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26,545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近期活跃，交叉销售提升客单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一般维持客户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6,861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35.1%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7,586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低频低额，满减券刺激复购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流失预警客户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2,815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1,338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平均 122 天未购，低成本召回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afb799ff84e78"/>
          <a:stretch xmlns:a="http://schemas.openxmlformats.org/drawingml/2006/main"/>
        </p:blipFill>
        <p:spPr>
          <a:xfrm xmlns:a="http://schemas.openxmlformats.org/drawingml/2006/main">
            <a:off x="7524750" y="2253831"/>
            <a:ext cx="4095750" cy="130258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12E39-257A-4C37-9604-0838FFC3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簇数 k=4：轮廓系数在 k=2 时最高（0.414），但只能粗略二分；k=4 时 SSE 下降幅度已明显放缓，且业务区分度更好。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5DB37-7C32-4B23-A11F-D36CE4FE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四群退货率差异很小（10%~11%），再次说明退货与客户价值无关。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1B5DC-169A-4201-B50C-E42DB8E0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· 分群结果可直接对接运营动作：专属维护、交叉销售、满减刺激、低成本召回。</a:t>
            </a:r>
          </a:p>
        </p:txBody>
      </p:sp>
    </p:spTree>
    <p:extLst>
      <p:ext uri="{BB962C8B-B14F-4D97-AF65-F5344CB8AC3E}">
        <p14:creationId xmlns:p14="http://schemas.microsoft.com/office/powerpoint/2010/main" val="10834298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E5C34-D702-4376-8F94-7AEF7801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预测建模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D01D4-2BB0-4D41-A4AE-F17AFD7B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订单金额可解释性良好，退货风险可提前预警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建模任务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效果</a:t>
                      </a:r>
                    </a:p>
                  </a:txBody>
                  <a:tcPr marL="91440" marR="91440" marT="45720" marB="45720">
                    <a:solidFill>
                      <a:srgbClr val="2E5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订单金额回归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岭回归（Ridge）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log(金额+1)，30 维特征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测试集 R² = 0.797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退货风险预警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类别加权逻辑回归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 维特征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6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AUC = 0.759，召回 68.79%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65A14-60AF-4395-AB40-13306E86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订单金额模型：手机数码（1.131）、家用电器（0.912）、服饰鞋包（0.712）正向影响最强；购买数量 0.468；折扣率 −0.140。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59623-4CED-4E71-A092-1869E88F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为什么用岭回归：品类独热编码维度高且存在共线性，L2 正则提高系数稳定性；训练集与测试集 R² 几乎一致（0.798 / 0.797），无过拟合。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FD706-5D26-41A8-9E9D-C3AC18CD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为什么用类别加权：退货率仅 10.19%，不加权时模型会把几乎所有样本判为“不退货”，准确率高但没有实用价值。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A13E4-1BE3-44E7-9C23-B73C2638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落地方式：退货模型输出风险名单，用于提前准备退换货资源与优先售后响应，不用于干预购买决策（精确率 21.9%，会产生较多误报）。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743987d624ba7"/>
          <a:stretch xmlns:a="http://schemas.openxmlformats.org/drawingml/2006/main"/>
        </p:blipFill>
        <p:spPr>
          <a:xfrm xmlns:a="http://schemas.openxmlformats.org/drawingml/2006/main">
            <a:off x="4474694" y="5334000"/>
            <a:ext cx="3242612" cy="133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8744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E9278-E861-4C70-9516-9E9BE30D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交互式看板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35E77-ABD2-476D-9E78-A5E8E6C2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16 种图表 + 多维筛选，指标卡与明细实时联动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93fd729fa4ba6"/>
          <a:stretch xmlns:a="http://schemas.openxmlformats.org/drawingml/2006/main"/>
        </p:blipFill>
        <p:spPr>
          <a:xfrm xmlns:a="http://schemas.openxmlformats.org/drawingml/2006/main">
            <a:off x="945330" y="1333500"/>
            <a:ext cx="5996039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693EB-F920-4ABD-A289-7EA66189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左侧筛选：日期范围 + 地区 / 渠道 / 品类 / 会员等级多选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68EF8-92DD-4EF4-AD8B-6684B3BA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顶部指标卡：订单量、销售额、客单价、退货率、客户数实时刷新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87A3C-0ACA-46A6-B88E-7A256FED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图表区：16 种图表下拉切换，支持缩放、平移与保存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80EF7-4A0F-4FF6-B2E1-54ED10D7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147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明细区：筛选结果分页预览，每页 50 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F6EC7-5DF7-4C66-9002-ACC5DDB0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433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导出：当前图表 PNG（300dpi）与筛选结果 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03D6A-C7CD-48E2-8755-DCD8EAF6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技术要点：数据后台线程加载，避免界面卡死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6F69A-0202-4391-9141-02D0701E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启动方式：python src/dashboard.py</a:t>
            </a:r>
          </a:p>
        </p:txBody>
      </p:sp>
    </p:spTree>
    <p:extLst>
      <p:ext uri="{BB962C8B-B14F-4D97-AF65-F5344CB8AC3E}">
        <p14:creationId xmlns:p14="http://schemas.microsoft.com/office/powerpoint/2010/main" val="19826301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FD65A-FE15-4330-AB69-957CE4CA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结论与不足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E1B71-0E80-41E0-9972-78574563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六个结论，四点不足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DC22E-D75A-4924-AD1B-223216F4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主要结论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C99D2-51D9-48D1-8790-E5C8F407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销售结构集中：两个品类贡献 69.0% 销售额，前三个品类累计 82.9%。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7E2D2-8BAE-4953-91E2-D90D8DBF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大促以价换量：客单价显著下降、订单量显著上升，退货率同步上升。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136AC-0D3D-436C-8D07-BA00613C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退货是品类问题：品类与退货强相关（V=0.280），渠道与退货无关（p=0.055）。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3A400-9E0F-4DB4-B7E8-2C287144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评分是先行信号：评分 1 分退货率 42.1%，评分 5 分仅 6.9%。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304EE-69ED-451F-A46E-455890DC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客户分层清晰：四群可分别对接维护、交叉销售、满减与召回动作。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E60B8-0E6B-4F73-BE46-C6B6A870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模型表现良好：金额回归 R²=0.797，退货预警 AUC=0.759。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13918-ACC4-4384-84B6-E306BE3E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33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8743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8743B"/>
                </a:solidFill>
                <a:latin typeface="PingFang SC"/>
                <a:ea typeface="PingFang SC"/>
                <a:cs typeface="PingFang SC"/>
              </a:rPr>
              <a:t>不足与改进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45835-A28D-4FA2-98FD-86A7AB8D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数据为仿真数据，无法完全复现真实噪声与长尾异常。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76E1F-E6E9-4F3C-A7C9-F43FABDD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金额回归使用线性模型，未刻画品类与地区的交互效应。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0EF78-22E8-4F20-9AD0-75BC265B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退货预测为静态模型，未引入客户行为序列特征。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36710-135C-458C-A810-FDE1E5B8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结论以描述与推断为主，尚未做因果推断（如促销透支效应）。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2C9D8-7F29-4CEE-99DC-31A41E13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· 后续方向：接入脱敏真实数据验证流程、引入梯度提升树与时间序列特征、把看板扩展为 Web 端多人协作。</a:t>
            </a:r>
          </a:p>
        </p:txBody>
      </p:sp>
    </p:spTree>
    <p:extLst>
      <p:ext uri="{BB962C8B-B14F-4D97-AF65-F5344CB8AC3E}">
        <p14:creationId xmlns:p14="http://schemas.microsoft.com/office/powerpoint/2010/main" val="19555889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A5D98-4A77-44CD-AC85-74CBB8E7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43B"/>
          </a:solidFill>
          <a:ln xmlns:a="http://schemas.openxmlformats.org/drawingml/2006/main" w="0">
            <a:solidFill>
              <a:srgbClr val="E8743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ACCD5-EA7C-42DF-98AB-693009E9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6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2263A"/>
                </a:solidFill>
                <a:latin typeface="PingFang SC"/>
                <a:ea typeface="PingFang SC"/>
                <a:cs typeface="PingFang SC"/>
              </a:rPr>
              <a:t>谢谢聆听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32579-0C62-4733-9D44-54C937F3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A6B7C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A6B7C"/>
                </a:solidFill>
                <a:latin typeface="PingFang SC"/>
                <a:ea typeface="PingFang SC"/>
                <a:cs typeface="PingFang SC"/>
              </a:rPr>
              <a:t>请各位老师批评指正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8953B-856B-468F-A76F-207595D4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E5C8A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2E5C8A"/>
                </a:solidFill>
                <a:latin typeface="PingFang SC"/>
                <a:ea typeface="PingFang SC"/>
                <a:cs typeface="PingFang SC"/>
              </a:rPr>
              <a:t>现场演示入口：python src/dashboard.py（项目一）　python src/simulator.py（项目二）</a:t>
            </a:r>
          </a:p>
        </p:txBody>
      </p:sp>
    </p:spTree>
    <p:extLst>
      <p:ext uri="{BB962C8B-B14F-4D97-AF65-F5344CB8AC3E}">
        <p14:creationId xmlns:p14="http://schemas.microsoft.com/office/powerpoint/2010/main" val="2005261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2026-09-20T09:05:25.9220000Z</dcterms:created>
  <dcterms:modified xsi:type="dcterms:W3CDTF">2026-09-20T09:05:25.9220000Z</dcterms:modified>
</coreProperties>
</file>